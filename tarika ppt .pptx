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79069" cy="5143500"/>
          </a:xfrm>
          <a:prstGeom prst="rect">
            <a:avLst/>
          </a:prstGeom>
          <a:solidFill>
            <a:srgbClr val="A6262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79699"/>
            <a:ext cx="693586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477988"/>
            <a:ext cx="3407569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700" b="1" spc="-2" kern="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TARIKA</a:t>
            </a:r>
            <a:endParaRPr lang="en-US" sz="5700" dirty="0"/>
          </a:p>
        </p:txBody>
      </p:sp>
      <p:sp>
        <p:nvSpPr>
          <p:cNvPr id="6" name="Shape 2"/>
          <p:cNvSpPr/>
          <p:nvPr/>
        </p:nvSpPr>
        <p:spPr>
          <a:xfrm>
            <a:off x="4407694" y="1189937"/>
            <a:ext cx="1194792" cy="235744"/>
          </a:xfrm>
          <a:prstGeom prst="rect">
            <a:avLst/>
          </a:prstGeom>
          <a:solidFill>
            <a:srgbClr val="0D47A1">
              <a:alpha val="1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407694" y="1189937"/>
            <a:ext cx="1194792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D47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WHATSAPP NATIVE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5709642" y="1189937"/>
            <a:ext cx="732234" cy="235744"/>
          </a:xfrm>
          <a:prstGeom prst="rect">
            <a:avLst/>
          </a:prstGeom>
          <a:solidFill>
            <a:srgbClr val="0D47A1">
              <a:alpha val="1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5709642" y="1189937"/>
            <a:ext cx="732234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D47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DRIVEN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6549033" y="1189937"/>
            <a:ext cx="667941" cy="235744"/>
          </a:xfrm>
          <a:prstGeom prst="rect">
            <a:avLst/>
          </a:prstGeom>
          <a:solidFill>
            <a:srgbClr val="0D47A1">
              <a:alpha val="1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549033" y="1189937"/>
            <a:ext cx="667941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D47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FINTECH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407694" y="1817582"/>
            <a:ext cx="416480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 partage d'argent comme on parle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407694" y="2860570"/>
            <a:ext cx="41648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PROPULSÉ PAR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407694" y="3039163"/>
            <a:ext cx="41648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Oumaima Elbouinany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07694" y="3267763"/>
            <a:ext cx="41648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Zakaria Haourir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407694" y="3496363"/>
            <a:ext cx="41648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Douae Ayachi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407694" y="3724963"/>
            <a:ext cx="41648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Marouane Boudlal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266980" y="4729163"/>
            <a:ext cx="13055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DiNext'26 Hackathon</a:t>
            </a: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22-23 Mai 2026 • FS Oujda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66142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MOMENT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71500" y="1661815"/>
            <a:ext cx="3786188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14500" b="1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62</a:t>
            </a:r>
            <a:r>
              <a:rPr lang="en-US" sz="5200" b="1" baseline="3000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%</a:t>
            </a:r>
            <a:endParaRPr lang="en-US" sz="14500" dirty="0"/>
          </a:p>
        </p:txBody>
      </p:sp>
      <p:sp>
        <p:nvSpPr>
          <p:cNvPr id="5" name="Text 2"/>
          <p:cNvSpPr/>
          <p:nvPr/>
        </p:nvSpPr>
        <p:spPr>
          <a:xfrm>
            <a:off x="4786313" y="1411811"/>
            <a:ext cx="3786188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 Marocains gèrent de l'argent en groupe chaque mois.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786313" y="2860514"/>
            <a:ext cx="378618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Colocation, mariage, voyage, funérailles, famille élargie, association — partout, partagés, sans outil adapté.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43438"/>
            <a:ext cx="346779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1154" y="4689872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8447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PROBLÈME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Les apps actuelles ne parlent pas notre langue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523405"/>
            <a:ext cx="428625" cy="428625"/>
          </a:xfrm>
          <a:prstGeom prst="rect">
            <a:avLst/>
          </a:prstGeom>
          <a:solidFill>
            <a:srgbClr val="A6262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651992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02098"/>
            <a:ext cx="199846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Splitwise est inadapté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1500" y="3013574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en anglais, pas de WhatsApp, pas de Wafacash, pas de Cash Plus. Inutilisable pour la réalité du cash au Maroc.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333759" y="1523405"/>
            <a:ext cx="428625" cy="428625"/>
          </a:xfrm>
          <a:prstGeom prst="rect">
            <a:avLst/>
          </a:prstGeom>
          <a:solidFill>
            <a:srgbClr val="A62626"/>
          </a:solidFill>
          <a:ln/>
        </p:spPr>
      </p:sp>
      <p:sp>
        <p:nvSpPr>
          <p:cNvPr id="10" name="Text 6"/>
          <p:cNvSpPr/>
          <p:nvPr/>
        </p:nvSpPr>
        <p:spPr>
          <a:xfrm>
            <a:off x="3333759" y="2502098"/>
            <a:ext cx="173950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WhatsApp = Chaos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33759" y="3013574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manuel dans des notes ou messages oubliés. Disputes familiales pour 50 dh. Manque total de transparence.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96019" y="1523405"/>
            <a:ext cx="428625" cy="428625"/>
          </a:xfrm>
          <a:prstGeom prst="rect">
            <a:avLst/>
          </a:prstGeom>
          <a:solidFill>
            <a:srgbClr val="A6262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606" y="1651992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96019" y="2502098"/>
            <a:ext cx="230028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MRE Diaspora = Friction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96019" y="3013574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Envoyer et partager l'argent depuis l'Europe vers le Maroc souffre de taux opaques, frais multiples et zéro suivi de groupe.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43438"/>
            <a:ext cx="346779" cy="2143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1154" y="4689872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8322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 SOLUTION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Tarika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71500" y="1205508"/>
            <a:ext cx="857250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6262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partage d'argent natif WhatsApp, pour la vie réelle au Maroc.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75284"/>
            <a:ext cx="300038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64669"/>
            <a:ext cx="16287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WhatsApp natif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71500" y="3604022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Créer, voir et relancer un split par message. Le canal que 97% des Marocains utilisent déjà au quotidien.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9" y="2275284"/>
            <a:ext cx="300038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33759" y="3064669"/>
            <a:ext cx="150018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 Ticket Scan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333759" y="3604022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simple photo du ticket suffit. Notre IA OCR gère le français, l'arabe et le darija pour un split automatique.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9" y="2275284"/>
            <a:ext cx="428625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96019" y="3064669"/>
            <a:ext cx="1318022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Family Fund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096019" y="3604022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Crowdfunding intra-famille transparent pour les mariages, funérailles, études et urgences médicales.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43438"/>
            <a:ext cx="346779" cy="2143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1154" y="4689872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7322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PRODUIT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 modules pour 3 moments de vie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71500" y="1598414"/>
            <a:ext cx="58757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1B5E20">
                    <a:alpha val="8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71500" y="2541389"/>
            <a:ext cx="1612702" cy="3964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Split Quotidien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3209330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Colocations étudiantes, voyages entre amis, restos. Bot WhatsApp + AI OCR ticket. 0 friction, 100% natif.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333759" y="1598414"/>
            <a:ext cx="66615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1B5E20">
                    <a:alpha val="8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333759" y="2541389"/>
            <a:ext cx="1318022" cy="3964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Family Fund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33759" y="3209330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 commun famille élargie pour mariage, funérailles, études, urgences. Dashboard transparent pour tous les membres.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96019" y="1598414"/>
            <a:ext cx="64650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1B5E20">
                    <a:alpha val="8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096019" y="2541389"/>
            <a:ext cx="1278731" cy="39647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MRE Bridge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6019" y="3209330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MRE Europe → Maroc : envoyer, partager, suivre en groupe. Intégration Wafacash, Cash Plus et banques locales.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43438"/>
            <a:ext cx="346779" cy="2143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61154" y="4689872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7125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MARCHÉ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 public énorme, jamais bien servi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634133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500188" y="1523405"/>
            <a:ext cx="4357688" cy="4286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500188" y="1523405"/>
            <a:ext cx="4500563" cy="428625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5"/>
          <p:cNvSpPr/>
          <p:nvPr/>
        </p:nvSpPr>
        <p:spPr>
          <a:xfrm>
            <a:off x="1500188" y="1523405"/>
            <a:ext cx="4500563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80 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72188" y="1557700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Marocains + diaspora maghrébine mondiale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2348508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500188" y="2237780"/>
            <a:ext cx="4357688" cy="4286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500188" y="2237780"/>
            <a:ext cx="2430661" cy="428625"/>
          </a:xfrm>
          <a:prstGeom prst="rect">
            <a:avLst/>
          </a:prstGeom>
          <a:solidFill>
            <a:srgbClr val="A6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1500188" y="2237780"/>
            <a:ext cx="2430661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42 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72188" y="2362070"/>
            <a:ext cx="250031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M Marocains + 5 M MRE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" y="3062883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00188" y="2952155"/>
            <a:ext cx="4357688" cy="4286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500188" y="2952155"/>
            <a:ext cx="1232297" cy="428625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18" name="Text 15"/>
          <p:cNvSpPr/>
          <p:nvPr/>
        </p:nvSpPr>
        <p:spPr>
          <a:xfrm>
            <a:off x="1500188" y="2952155"/>
            <a:ext cx="1232297" cy="42862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200 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72188" y="3076445"/>
            <a:ext cx="250031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Utilisateurs actifs à 3 ans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87986"/>
            <a:ext cx="228600" cy="26431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42975" y="3887986"/>
            <a:ext cx="6220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Wedge initial : Le segment étudiant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42975" y="4188023"/>
            <a:ext cx="62204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Étudiants ENCG / ESTO / FSO / UMP Oujda = 20 000 prospects accessibles immédiatement.</a:t>
            </a:r>
            <a:endParaRPr lang="en-US" sz="10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43438"/>
            <a:ext cx="346779" cy="21431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1154" y="4689872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81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8679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COMPÉTITION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Personne ne combine WhatsApp + Maroc + IA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0530"/>
            <a:ext cx="4643438" cy="32146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3" y="1425178"/>
            <a:ext cx="150019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29313" y="1380530"/>
            <a:ext cx="26431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Bot WhatsApp natif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929313" y="1589484"/>
            <a:ext cx="2643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friction d'installation, utilisé par 97% des Marocains.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3" y="2132744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29313" y="2088096"/>
            <a:ext cx="26431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OCR FR/AR/Darija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5929313" y="2297050"/>
            <a:ext cx="2643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intelligent adapté aux tickets locaux.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3" y="2680302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929313" y="2635653"/>
            <a:ext cx="26431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Wafacash + Cash Plus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5929313" y="2844608"/>
            <a:ext cx="2643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profonde avec les leaders du cash au Maroc.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63" y="3387868"/>
            <a:ext cx="214313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929313" y="3343219"/>
            <a:ext cx="26431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Family Fund + MRE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5929313" y="3552174"/>
            <a:ext cx="2643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de groupe pensée pour la famille et la diaspora.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38092"/>
            <a:ext cx="346779" cy="2143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61154" y="4784527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10822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 sources de revenu, sans casser l'expérience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380530"/>
            <a:ext cx="1000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1B5E2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40%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1750219" y="1380530"/>
            <a:ext cx="2678906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Premium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50219" y="1718072"/>
            <a:ext cx="26789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MAD/mois — gros groupes, analytics, export, multi-devises.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14875" y="1380530"/>
            <a:ext cx="1000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1B5E2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30%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5893594" y="1380530"/>
            <a:ext cx="2678906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Affiliations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93594" y="1718072"/>
            <a:ext cx="26789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0.5-1% par transaction via Wafacash, Cash Plus, CIH Mobile.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2786955"/>
            <a:ext cx="1000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1B5E2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20%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1750219" y="2786955"/>
            <a:ext cx="2678906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B2B Colocations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50219" y="3124498"/>
            <a:ext cx="26789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MAD/résidence/mois. Focus initial sur Oujda, Casa, Marrakech.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14875" y="2786955"/>
            <a:ext cx="1000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1B5E2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10%</a:t>
            </a:r>
            <a:endParaRPr lang="en-US" sz="3500" dirty="0"/>
          </a:p>
        </p:txBody>
      </p:sp>
      <p:sp>
        <p:nvSpPr>
          <p:cNvPr id="15" name="Text 12"/>
          <p:cNvSpPr/>
          <p:nvPr/>
        </p:nvSpPr>
        <p:spPr>
          <a:xfrm>
            <a:off x="5893594" y="2786955"/>
            <a:ext cx="2678906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Sponsoring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93594" y="3124498"/>
            <a:ext cx="26789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Marques mariage/funérailles partenaires (Bijoutiers, traiteurs).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0" y="3907631"/>
            <a:ext cx="9144000" cy="771525"/>
          </a:xfrm>
          <a:prstGeom prst="rect">
            <a:avLst/>
          </a:prstGeom>
          <a:solidFill>
            <a:srgbClr val="A6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4224635"/>
            <a:ext cx="317718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FFFFF">
                    <a:alpha val="8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OBJECTIF Y3 : 200 000 UTILISATEURS ACTIFS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88136" y="4121944"/>
            <a:ext cx="3484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2.4 M MAD revenu net annuel</a:t>
            </a:r>
            <a:endParaRPr lang="en-US" sz="1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822031"/>
            <a:ext cx="288987" cy="17859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03362" y="4858643"/>
            <a:ext cx="144482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12539"/>
            <a:ext cx="1435894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BUSINESS MODEL CANVAS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28625" y="458986"/>
            <a:ext cx="8715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 machine économique en 9 blocs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944761"/>
            <a:ext cx="8286750" cy="3350419"/>
          </a:xfrm>
          <a:prstGeom prst="rect">
            <a:avLst/>
          </a:prstGeom>
          <a:solidFill>
            <a:srgbClr val="E0E0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944761"/>
            <a:ext cx="1651629" cy="222170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068884"/>
            <a:ext cx="125016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947" y="1051917"/>
            <a:ext cx="96440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PARTENAIRES CLÉS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35781" y="1257300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Twilio (WhatsApp API)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535781" y="140586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 / OpenAI (IA)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535781" y="155443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Wafacash, Cash Plus, CIH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535781" y="170300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Résidences étudiantes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35781" y="1851571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CMO48 &amp; Seomaniak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2087398" y="944761"/>
            <a:ext cx="1651629" cy="11072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535781" y="125730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535781" y="140586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535781" y="155443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535781" y="170300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535781" y="1851571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54" y="1068884"/>
            <a:ext cx="100013" cy="1000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351717" y="1051917"/>
            <a:ext cx="80724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ACTIVITÉS CLÉS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194554" y="1257300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Acquisition utilisateurs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2194554" y="140586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IA OCR (FR/AR/DA)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2194554" y="155443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Intégrations Mobile Money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2194554" y="170300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Animation communauté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2087398" y="2059186"/>
            <a:ext cx="1651629" cy="11072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2194554" y="125730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2194554" y="140586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2194554" y="155443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30" name="Text 25"/>
          <p:cNvSpPr/>
          <p:nvPr/>
        </p:nvSpPr>
        <p:spPr>
          <a:xfrm>
            <a:off x="2194554" y="170300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54" y="2183309"/>
            <a:ext cx="100013" cy="10001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351717" y="2166342"/>
            <a:ext cx="93940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RESSOURCES CLÉS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2194554" y="237172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WhatsApp Twilio</a:t>
            </a:r>
            <a:endParaRPr lang="en-US" sz="600" dirty="0"/>
          </a:p>
        </p:txBody>
      </p:sp>
      <p:sp>
        <p:nvSpPr>
          <p:cNvPr id="34" name="Text 28"/>
          <p:cNvSpPr/>
          <p:nvPr/>
        </p:nvSpPr>
        <p:spPr>
          <a:xfrm>
            <a:off x="2194554" y="252029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OCR propriétaire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2194554" y="2668860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tech Seomaniak</a:t>
            </a:r>
            <a:endParaRPr lang="en-US" sz="600" dirty="0"/>
          </a:p>
        </p:txBody>
      </p:sp>
      <p:sp>
        <p:nvSpPr>
          <p:cNvPr id="36" name="Text 30"/>
          <p:cNvSpPr/>
          <p:nvPr/>
        </p:nvSpPr>
        <p:spPr>
          <a:xfrm>
            <a:off x="2194554" y="281742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étudiants Oujda</a:t>
            </a:r>
            <a:endParaRPr lang="en-US" sz="600" dirty="0"/>
          </a:p>
        </p:txBody>
      </p:sp>
      <p:sp>
        <p:nvSpPr>
          <p:cNvPr id="37" name="Shape 31"/>
          <p:cNvSpPr/>
          <p:nvPr/>
        </p:nvSpPr>
        <p:spPr>
          <a:xfrm>
            <a:off x="3746171" y="944761"/>
            <a:ext cx="1651629" cy="2221706"/>
          </a:xfrm>
          <a:prstGeom prst="rect">
            <a:avLst/>
          </a:prstGeom>
          <a:solidFill>
            <a:srgbClr val="FDFBF7"/>
          </a:solidFill>
          <a:ln/>
        </p:spPr>
      </p:sp>
      <p:sp>
        <p:nvSpPr>
          <p:cNvPr id="38" name="Text 32"/>
          <p:cNvSpPr/>
          <p:nvPr/>
        </p:nvSpPr>
        <p:spPr>
          <a:xfrm>
            <a:off x="2194554" y="237172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2194554" y="252029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40" name="Text 34"/>
          <p:cNvSpPr/>
          <p:nvPr/>
        </p:nvSpPr>
        <p:spPr>
          <a:xfrm>
            <a:off x="2194554" y="266886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2194554" y="281742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328" y="1135856"/>
            <a:ext cx="112514" cy="100013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022992" y="1051917"/>
            <a:ext cx="126765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PROPOSITIONS DE VALEUR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3853328" y="139124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natif WhatsApp</a:t>
            </a:r>
            <a:endParaRPr lang="en-US" sz="600" dirty="0"/>
          </a:p>
        </p:txBody>
      </p:sp>
      <p:sp>
        <p:nvSpPr>
          <p:cNvPr id="45" name="Text 38"/>
          <p:cNvSpPr/>
          <p:nvPr/>
        </p:nvSpPr>
        <p:spPr>
          <a:xfrm>
            <a:off x="3853328" y="153981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scan ticket FR/AR/DA</a:t>
            </a:r>
            <a:endParaRPr lang="en-US" sz="600" dirty="0"/>
          </a:p>
        </p:txBody>
      </p:sp>
      <p:sp>
        <p:nvSpPr>
          <p:cNvPr id="46" name="Text 39"/>
          <p:cNvSpPr/>
          <p:nvPr/>
        </p:nvSpPr>
        <p:spPr>
          <a:xfrm>
            <a:off x="3853328" y="1688381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Fund transparent</a:t>
            </a:r>
            <a:endParaRPr lang="en-US" sz="600" dirty="0"/>
          </a:p>
        </p:txBody>
      </p:sp>
      <p:sp>
        <p:nvSpPr>
          <p:cNvPr id="47" name="Text 40"/>
          <p:cNvSpPr/>
          <p:nvPr/>
        </p:nvSpPr>
        <p:spPr>
          <a:xfrm>
            <a:off x="3853328" y="183694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MRE Bridge zéro friction</a:t>
            </a:r>
            <a:endParaRPr lang="en-US" sz="600" dirty="0"/>
          </a:p>
        </p:txBody>
      </p:sp>
      <p:sp>
        <p:nvSpPr>
          <p:cNvPr id="48" name="Shape 41"/>
          <p:cNvSpPr/>
          <p:nvPr/>
        </p:nvSpPr>
        <p:spPr>
          <a:xfrm>
            <a:off x="5404945" y="944761"/>
            <a:ext cx="1651629" cy="11072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2"/>
          <p:cNvSpPr/>
          <p:nvPr/>
        </p:nvSpPr>
        <p:spPr>
          <a:xfrm>
            <a:off x="3853328" y="139124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50" name="Text 43"/>
          <p:cNvSpPr/>
          <p:nvPr/>
        </p:nvSpPr>
        <p:spPr>
          <a:xfrm>
            <a:off x="3853328" y="153981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51" name="Text 44"/>
          <p:cNvSpPr/>
          <p:nvPr/>
        </p:nvSpPr>
        <p:spPr>
          <a:xfrm>
            <a:off x="3853328" y="1688381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52" name="Text 45"/>
          <p:cNvSpPr/>
          <p:nvPr/>
        </p:nvSpPr>
        <p:spPr>
          <a:xfrm>
            <a:off x="3853328" y="183694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2101" y="1068884"/>
            <a:ext cx="100013" cy="100013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669263" y="1051917"/>
            <a:ext cx="10179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RELATIONS CLIENTS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5512101" y="1257300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self-service</a:t>
            </a:r>
            <a:endParaRPr lang="en-US" sz="600" dirty="0"/>
          </a:p>
        </p:txBody>
      </p:sp>
      <p:sp>
        <p:nvSpPr>
          <p:cNvPr id="56" name="Text 48"/>
          <p:cNvSpPr/>
          <p:nvPr/>
        </p:nvSpPr>
        <p:spPr>
          <a:xfrm>
            <a:off x="5512101" y="140586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CMO48</a:t>
            </a:r>
            <a:endParaRPr lang="en-US" sz="600" dirty="0"/>
          </a:p>
        </p:txBody>
      </p:sp>
      <p:sp>
        <p:nvSpPr>
          <p:cNvPr id="57" name="Text 49"/>
          <p:cNvSpPr/>
          <p:nvPr/>
        </p:nvSpPr>
        <p:spPr>
          <a:xfrm>
            <a:off x="5512101" y="155443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Ambassadeurs campus</a:t>
            </a:r>
            <a:endParaRPr lang="en-US" sz="600" dirty="0"/>
          </a:p>
        </p:txBody>
      </p:sp>
      <p:sp>
        <p:nvSpPr>
          <p:cNvPr id="58" name="Text 50"/>
          <p:cNvSpPr/>
          <p:nvPr/>
        </p:nvSpPr>
        <p:spPr>
          <a:xfrm>
            <a:off x="5512101" y="170300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en darija</a:t>
            </a:r>
            <a:endParaRPr lang="en-US" sz="600" dirty="0"/>
          </a:p>
        </p:txBody>
      </p:sp>
      <p:sp>
        <p:nvSpPr>
          <p:cNvPr id="59" name="Shape 51"/>
          <p:cNvSpPr/>
          <p:nvPr/>
        </p:nvSpPr>
        <p:spPr>
          <a:xfrm>
            <a:off x="5404945" y="2059186"/>
            <a:ext cx="1651629" cy="11072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2"/>
          <p:cNvSpPr/>
          <p:nvPr/>
        </p:nvSpPr>
        <p:spPr>
          <a:xfrm>
            <a:off x="5512101" y="125730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61" name="Text 53"/>
          <p:cNvSpPr/>
          <p:nvPr/>
        </p:nvSpPr>
        <p:spPr>
          <a:xfrm>
            <a:off x="5512101" y="140586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62" name="Text 54"/>
          <p:cNvSpPr/>
          <p:nvPr/>
        </p:nvSpPr>
        <p:spPr>
          <a:xfrm>
            <a:off x="5512101" y="155443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63" name="Text 55"/>
          <p:cNvSpPr/>
          <p:nvPr/>
        </p:nvSpPr>
        <p:spPr>
          <a:xfrm>
            <a:off x="5512101" y="170300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2101" y="2183309"/>
            <a:ext cx="125016" cy="100013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5694266" y="2166342"/>
            <a:ext cx="40898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CANAUX</a:t>
            </a:r>
            <a:endParaRPr lang="en-US" sz="750" dirty="0"/>
          </a:p>
        </p:txBody>
      </p:sp>
      <p:sp>
        <p:nvSpPr>
          <p:cNvPr id="66" name="Text 57"/>
          <p:cNvSpPr/>
          <p:nvPr/>
        </p:nvSpPr>
        <p:spPr>
          <a:xfrm>
            <a:off x="5512101" y="237172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natif</a:t>
            </a:r>
            <a:endParaRPr lang="en-US" sz="600" dirty="0"/>
          </a:p>
        </p:txBody>
      </p:sp>
      <p:sp>
        <p:nvSpPr>
          <p:cNvPr id="67" name="Text 58"/>
          <p:cNvSpPr/>
          <p:nvPr/>
        </p:nvSpPr>
        <p:spPr>
          <a:xfrm>
            <a:off x="5512101" y="252029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 partenaires</a:t>
            </a:r>
            <a:endParaRPr lang="en-US" sz="600" dirty="0"/>
          </a:p>
        </p:txBody>
      </p:sp>
      <p:sp>
        <p:nvSpPr>
          <p:cNvPr id="68" name="Text 59"/>
          <p:cNvSpPr/>
          <p:nvPr/>
        </p:nvSpPr>
        <p:spPr>
          <a:xfrm>
            <a:off x="5512101" y="2668860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 Seomaniak</a:t>
            </a:r>
            <a:endParaRPr lang="en-US" sz="600" dirty="0"/>
          </a:p>
        </p:txBody>
      </p:sp>
      <p:sp>
        <p:nvSpPr>
          <p:cNvPr id="69" name="Text 60"/>
          <p:cNvSpPr/>
          <p:nvPr/>
        </p:nvSpPr>
        <p:spPr>
          <a:xfrm>
            <a:off x="5512101" y="281742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Événements CMO48</a:t>
            </a:r>
            <a:endParaRPr lang="en-US" sz="600" dirty="0"/>
          </a:p>
        </p:txBody>
      </p:sp>
      <p:sp>
        <p:nvSpPr>
          <p:cNvPr id="70" name="Shape 61"/>
          <p:cNvSpPr/>
          <p:nvPr/>
        </p:nvSpPr>
        <p:spPr>
          <a:xfrm>
            <a:off x="7063718" y="944761"/>
            <a:ext cx="1651629" cy="22217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2"/>
          <p:cNvSpPr/>
          <p:nvPr/>
        </p:nvSpPr>
        <p:spPr>
          <a:xfrm>
            <a:off x="5512101" y="237172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72" name="Text 63"/>
          <p:cNvSpPr/>
          <p:nvPr/>
        </p:nvSpPr>
        <p:spPr>
          <a:xfrm>
            <a:off x="5512101" y="252029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73" name="Text 64"/>
          <p:cNvSpPr/>
          <p:nvPr/>
        </p:nvSpPr>
        <p:spPr>
          <a:xfrm>
            <a:off x="5512101" y="266886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74" name="Text 65"/>
          <p:cNvSpPr/>
          <p:nvPr/>
        </p:nvSpPr>
        <p:spPr>
          <a:xfrm>
            <a:off x="5512101" y="281742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874" y="1068884"/>
            <a:ext cx="125016" cy="100013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7353040" y="1051917"/>
            <a:ext cx="100191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SEGMENTS CLIENTS</a:t>
            </a:r>
            <a:endParaRPr lang="en-US" sz="750" dirty="0"/>
          </a:p>
        </p:txBody>
      </p:sp>
      <p:sp>
        <p:nvSpPr>
          <p:cNvPr id="77" name="Text 67"/>
          <p:cNvSpPr/>
          <p:nvPr/>
        </p:nvSpPr>
        <p:spPr>
          <a:xfrm>
            <a:off x="7170874" y="1257300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Étudiants 18-25</a:t>
            </a:r>
            <a:endParaRPr lang="en-US" sz="600" dirty="0"/>
          </a:p>
        </p:txBody>
      </p:sp>
      <p:sp>
        <p:nvSpPr>
          <p:cNvPr id="78" name="Text 68"/>
          <p:cNvSpPr/>
          <p:nvPr/>
        </p:nvSpPr>
        <p:spPr>
          <a:xfrm>
            <a:off x="7170874" y="1405868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Jeunes actifs 25-35</a:t>
            </a:r>
            <a:endParaRPr lang="en-US" sz="600" dirty="0"/>
          </a:p>
        </p:txBody>
      </p:sp>
      <p:sp>
        <p:nvSpPr>
          <p:cNvPr id="79" name="Text 69"/>
          <p:cNvSpPr/>
          <p:nvPr/>
        </p:nvSpPr>
        <p:spPr>
          <a:xfrm>
            <a:off x="7170874" y="1554435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MRE 25-50 (Diaspora)</a:t>
            </a:r>
            <a:endParaRPr lang="en-US" sz="600" dirty="0"/>
          </a:p>
        </p:txBody>
      </p:sp>
      <p:sp>
        <p:nvSpPr>
          <p:cNvPr id="80" name="Text 70"/>
          <p:cNvSpPr/>
          <p:nvPr/>
        </p:nvSpPr>
        <p:spPr>
          <a:xfrm>
            <a:off x="7170874" y="1703003"/>
            <a:ext cx="1437317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Familles élargies</a:t>
            </a:r>
            <a:endParaRPr lang="en-US" sz="600" dirty="0"/>
          </a:p>
        </p:txBody>
      </p:sp>
      <p:sp>
        <p:nvSpPr>
          <p:cNvPr id="81" name="Shape 71"/>
          <p:cNvSpPr/>
          <p:nvPr/>
        </p:nvSpPr>
        <p:spPr>
          <a:xfrm>
            <a:off x="428625" y="3173611"/>
            <a:ext cx="3310403" cy="11072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2"/>
          <p:cNvSpPr/>
          <p:nvPr/>
        </p:nvSpPr>
        <p:spPr>
          <a:xfrm>
            <a:off x="7170874" y="125730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83" name="Text 73"/>
          <p:cNvSpPr/>
          <p:nvPr/>
        </p:nvSpPr>
        <p:spPr>
          <a:xfrm>
            <a:off x="7170874" y="140586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84" name="Text 74"/>
          <p:cNvSpPr/>
          <p:nvPr/>
        </p:nvSpPr>
        <p:spPr>
          <a:xfrm>
            <a:off x="7170874" y="155443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85" name="Text 75"/>
          <p:cNvSpPr/>
          <p:nvPr/>
        </p:nvSpPr>
        <p:spPr>
          <a:xfrm>
            <a:off x="7170874" y="170300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8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1" y="3297734"/>
            <a:ext cx="100013" cy="100013"/>
          </a:xfrm>
          <a:prstGeom prst="rect">
            <a:avLst/>
          </a:prstGeom>
        </p:spPr>
      </p:pic>
      <p:sp>
        <p:nvSpPr>
          <p:cNvPr id="87" name="Text 76"/>
          <p:cNvSpPr/>
          <p:nvPr/>
        </p:nvSpPr>
        <p:spPr>
          <a:xfrm>
            <a:off x="692944" y="3280767"/>
            <a:ext cx="11322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STRUCTURE DE COÛTS</a:t>
            </a:r>
            <a:endParaRPr lang="en-US" sz="750" dirty="0"/>
          </a:p>
        </p:txBody>
      </p:sp>
      <p:sp>
        <p:nvSpPr>
          <p:cNvPr id="88" name="Text 77"/>
          <p:cNvSpPr/>
          <p:nvPr/>
        </p:nvSpPr>
        <p:spPr>
          <a:xfrm>
            <a:off x="535781" y="3486150"/>
            <a:ext cx="3096090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API IA OCR</a:t>
            </a:r>
            <a:endParaRPr lang="en-US" sz="600" dirty="0"/>
          </a:p>
        </p:txBody>
      </p:sp>
      <p:sp>
        <p:nvSpPr>
          <p:cNvPr id="89" name="Text 78"/>
          <p:cNvSpPr/>
          <p:nvPr/>
        </p:nvSpPr>
        <p:spPr>
          <a:xfrm>
            <a:off x="535781" y="3634718"/>
            <a:ext cx="3096090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Twilio WhatsApp fees</a:t>
            </a:r>
            <a:endParaRPr lang="en-US" sz="600" dirty="0"/>
          </a:p>
        </p:txBody>
      </p:sp>
      <p:sp>
        <p:nvSpPr>
          <p:cNvPr id="90" name="Text 79"/>
          <p:cNvSpPr/>
          <p:nvPr/>
        </p:nvSpPr>
        <p:spPr>
          <a:xfrm>
            <a:off x="535781" y="3783285"/>
            <a:ext cx="3096090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&amp; Ambassadeurs</a:t>
            </a:r>
            <a:endParaRPr lang="en-US" sz="600" dirty="0"/>
          </a:p>
        </p:txBody>
      </p:sp>
      <p:sp>
        <p:nvSpPr>
          <p:cNvPr id="91" name="Text 80"/>
          <p:cNvSpPr/>
          <p:nvPr/>
        </p:nvSpPr>
        <p:spPr>
          <a:xfrm>
            <a:off x="535781" y="3931853"/>
            <a:ext cx="3096090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client Darija</a:t>
            </a:r>
            <a:endParaRPr lang="en-US" sz="600" dirty="0"/>
          </a:p>
        </p:txBody>
      </p:sp>
      <p:sp>
        <p:nvSpPr>
          <p:cNvPr id="92" name="Shape 81"/>
          <p:cNvSpPr/>
          <p:nvPr/>
        </p:nvSpPr>
        <p:spPr>
          <a:xfrm>
            <a:off x="3746171" y="3173611"/>
            <a:ext cx="4969176" cy="1107281"/>
          </a:xfrm>
          <a:prstGeom prst="rect">
            <a:avLst/>
          </a:prstGeom>
          <a:solidFill>
            <a:srgbClr val="FDFBF7"/>
          </a:solidFill>
          <a:ln/>
        </p:spPr>
      </p:sp>
      <p:sp>
        <p:nvSpPr>
          <p:cNvPr id="93" name="Text 82"/>
          <p:cNvSpPr/>
          <p:nvPr/>
        </p:nvSpPr>
        <p:spPr>
          <a:xfrm>
            <a:off x="535781" y="348615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94" name="Text 83"/>
          <p:cNvSpPr/>
          <p:nvPr/>
        </p:nvSpPr>
        <p:spPr>
          <a:xfrm>
            <a:off x="535781" y="363471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95" name="Text 84"/>
          <p:cNvSpPr/>
          <p:nvPr/>
        </p:nvSpPr>
        <p:spPr>
          <a:xfrm>
            <a:off x="535781" y="378328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96" name="Text 85"/>
          <p:cNvSpPr/>
          <p:nvPr/>
        </p:nvSpPr>
        <p:spPr>
          <a:xfrm>
            <a:off x="535781" y="393185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9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3328" y="3297734"/>
            <a:ext cx="112514" cy="100013"/>
          </a:xfrm>
          <a:prstGeom prst="rect">
            <a:avLst/>
          </a:prstGeom>
        </p:spPr>
      </p:pic>
      <p:sp>
        <p:nvSpPr>
          <p:cNvPr id="98" name="Text 86"/>
          <p:cNvSpPr/>
          <p:nvPr/>
        </p:nvSpPr>
        <p:spPr>
          <a:xfrm>
            <a:off x="4022992" y="3280767"/>
            <a:ext cx="90725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FLUX DE REVENUS</a:t>
            </a:r>
            <a:endParaRPr lang="en-US" sz="750" dirty="0"/>
          </a:p>
        </p:txBody>
      </p:sp>
      <p:sp>
        <p:nvSpPr>
          <p:cNvPr id="99" name="Text 87"/>
          <p:cNvSpPr/>
          <p:nvPr/>
        </p:nvSpPr>
        <p:spPr>
          <a:xfrm>
            <a:off x="3853328" y="3486150"/>
            <a:ext cx="4754863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29 MAD/mois</a:t>
            </a:r>
            <a:endParaRPr lang="en-US" sz="600" dirty="0"/>
          </a:p>
        </p:txBody>
      </p:sp>
      <p:sp>
        <p:nvSpPr>
          <p:cNvPr id="100" name="Text 88"/>
          <p:cNvSpPr/>
          <p:nvPr/>
        </p:nvSpPr>
        <p:spPr>
          <a:xfrm>
            <a:off x="3853328" y="3634718"/>
            <a:ext cx="4754863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Affiliations mobile money</a:t>
            </a:r>
            <a:endParaRPr lang="en-US" sz="600" dirty="0"/>
          </a:p>
        </p:txBody>
      </p:sp>
      <p:sp>
        <p:nvSpPr>
          <p:cNvPr id="101" name="Text 89"/>
          <p:cNvSpPr/>
          <p:nvPr/>
        </p:nvSpPr>
        <p:spPr>
          <a:xfrm>
            <a:off x="3853328" y="3783285"/>
            <a:ext cx="4754863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résidences 99 MAD/mois</a:t>
            </a:r>
            <a:endParaRPr lang="en-US" sz="600" dirty="0"/>
          </a:p>
        </p:txBody>
      </p:sp>
      <p:sp>
        <p:nvSpPr>
          <p:cNvPr id="102" name="Text 90"/>
          <p:cNvSpPr/>
          <p:nvPr/>
        </p:nvSpPr>
        <p:spPr>
          <a:xfrm>
            <a:off x="3853328" y="3931853"/>
            <a:ext cx="4754863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Sponsoring Family Fund</a:t>
            </a:r>
            <a:endParaRPr lang="en-US" sz="600" dirty="0"/>
          </a:p>
        </p:txBody>
      </p:sp>
      <p:sp>
        <p:nvSpPr>
          <p:cNvPr id="103" name="Text 91"/>
          <p:cNvSpPr/>
          <p:nvPr/>
        </p:nvSpPr>
        <p:spPr>
          <a:xfrm>
            <a:off x="3853328" y="3486150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04" name="Text 92"/>
          <p:cNvSpPr/>
          <p:nvPr/>
        </p:nvSpPr>
        <p:spPr>
          <a:xfrm>
            <a:off x="3853328" y="3634718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05" name="Text 93"/>
          <p:cNvSpPr/>
          <p:nvPr/>
        </p:nvSpPr>
        <p:spPr>
          <a:xfrm>
            <a:off x="3853328" y="3783285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06" name="Text 94"/>
          <p:cNvSpPr/>
          <p:nvPr/>
        </p:nvSpPr>
        <p:spPr>
          <a:xfrm>
            <a:off x="3853328" y="3931853"/>
            <a:ext cx="482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5E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pic>
        <p:nvPicPr>
          <p:cNvPr id="10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" y="4757738"/>
            <a:ext cx="277434" cy="171450"/>
          </a:xfrm>
          <a:prstGeom prst="rect">
            <a:avLst/>
          </a:prstGeom>
        </p:spPr>
      </p:pic>
      <p:sp>
        <p:nvSpPr>
          <p:cNvPr id="108" name="Text 95"/>
          <p:cNvSpPr/>
          <p:nvPr/>
        </p:nvSpPr>
        <p:spPr>
          <a:xfrm>
            <a:off x="813215" y="4790777"/>
            <a:ext cx="144482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6143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758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D'Oujda à la diaspora en 18 mois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022784" y="1201936"/>
            <a:ext cx="53756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Q3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9542" y="1950244"/>
            <a:ext cx="9840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MVP &amp; Pilote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330648"/>
            <a:ext cx="14401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WhatsApp + AI OCR. 50 groupes étudiants Oujda (ESTO, ENCG, FSO).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661186" y="1201936"/>
            <a:ext cx="54113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Q4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91522" y="1950244"/>
            <a:ext cx="88046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Scale Maroc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11688" y="2330648"/>
            <a:ext cx="14401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 utilisateurs actifs + 5 résidences partenaires + Casa.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318341" y="1201936"/>
            <a:ext cx="5072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Q1 2027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31711" y="1950244"/>
            <a:ext cx="88046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MRE Bridge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51877" y="2330648"/>
            <a:ext cx="14401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diaspora + intégration Wafacash + lancement Rabat, Marrakech.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951386" y="1201936"/>
            <a:ext cx="52149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Q3 2027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08486" y="1950244"/>
            <a:ext cx="12072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Family Fund Pro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92065" y="2330648"/>
            <a:ext cx="14401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utilisateurs + module sponsoring marques mariage/funérailles.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690693" y="1201936"/>
            <a:ext cx="3232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262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2028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36172" y="1950244"/>
            <a:ext cx="123229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Diaspora Europe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253" y="2330648"/>
            <a:ext cx="14401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France, Espagne, Belgique, Pays-Bas. Algérie + Tunisie pilote.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1500" y="3516511"/>
            <a:ext cx="800100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Objectif 2028 : 200 000 utilisateurs actifs au Maroc et dans la diaspora.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43438"/>
            <a:ext cx="346779" cy="21431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61154" y="4689872"/>
            <a:ext cx="16877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71475"/>
            <a:ext cx="5589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L'ÉQUIPE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56614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Une équipe qui vit ce qu'elle construit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891183" y="1251942"/>
            <a:ext cx="1200150" cy="1200150"/>
          </a:xfrm>
          <a:prstGeom prst="ellipse">
            <a:avLst/>
          </a:prstGeom>
          <a:solidFill>
            <a:srgbClr val="E0E0E0"/>
          </a:solidFill>
          <a:ln w="27432">
            <a:solidFill>
              <a:srgbClr val="1B5E2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8" y="1251942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7409" y="2694980"/>
            <a:ext cx="158769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Oumaima Elbouinany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424" y="3039666"/>
            <a:ext cx="13376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LEAD COMMUNITY &amp; UX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71500" y="3325416"/>
            <a:ext cx="18395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Étudiante ENCG Oujda. Pilote la voix client et l'expérience utilisateur.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2945011" y="1251942"/>
            <a:ext cx="1200150" cy="1200150"/>
          </a:xfrm>
          <a:prstGeom prst="ellipse">
            <a:avLst/>
          </a:prstGeom>
          <a:solidFill>
            <a:srgbClr val="E0E0E0"/>
          </a:solidFill>
          <a:ln w="27432">
            <a:solidFill>
              <a:srgbClr val="1B5E2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86" y="1251942"/>
            <a:ext cx="1143000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55727" y="2694980"/>
            <a:ext cx="117871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Zakaria Haourir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098602" y="3039666"/>
            <a:ext cx="8929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CTO / LEAD DEV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2625328" y="3325416"/>
            <a:ext cx="18395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en intégrations WhatsApp et moteurs d'intelligence artificielle.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4998839" y="1251942"/>
            <a:ext cx="1200150" cy="1200150"/>
          </a:xfrm>
          <a:prstGeom prst="ellipse">
            <a:avLst/>
          </a:prstGeom>
          <a:solidFill>
            <a:srgbClr val="E0E0E0"/>
          </a:solidFill>
          <a:ln w="27432">
            <a:solidFill>
              <a:srgbClr val="1B5E2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414" y="1251942"/>
            <a:ext cx="1143000" cy="1143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3316" y="2694980"/>
            <a:ext cx="99119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Douae Ayachi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030093" y="3039666"/>
            <a:ext cx="113764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MANAGER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4679156" y="3325416"/>
            <a:ext cx="18395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sur le Family Fund et les partenariats stratégiques MRE.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7052667" y="1251942"/>
            <a:ext cx="1200150" cy="1200150"/>
          </a:xfrm>
          <a:prstGeom prst="ellipse">
            <a:avLst/>
          </a:prstGeom>
          <a:solidFill>
            <a:srgbClr val="E0E0E0"/>
          </a:solidFill>
          <a:ln w="27432">
            <a:solidFill>
              <a:srgbClr val="1B5E2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242" y="1251942"/>
            <a:ext cx="1143000" cy="1143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83016" y="2694980"/>
            <a:ext cx="133945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Marouane Boudlal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050881" y="3039666"/>
            <a:ext cx="1203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A6262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FRONTEND DESIGNER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6732984" y="3325416"/>
            <a:ext cx="18395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UI/UX. Design du bot WhatsApp et identité visuelle premium.</a:t>
            </a:r>
            <a:endParaRPr lang="en-US" sz="650" dirty="0"/>
          </a:p>
        </p:txBody>
      </p:sp>
      <p:sp>
        <p:nvSpPr>
          <p:cNvPr id="25" name="Shape 18"/>
          <p:cNvSpPr/>
          <p:nvPr/>
        </p:nvSpPr>
        <p:spPr>
          <a:xfrm>
            <a:off x="0" y="4035493"/>
            <a:ext cx="9144000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0" y="4035493"/>
            <a:ext cx="9144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0"/>
          <p:cNvSpPr/>
          <p:nvPr/>
        </p:nvSpPr>
        <p:spPr>
          <a:xfrm>
            <a:off x="571500" y="4311421"/>
            <a:ext cx="107156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9E9E9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MENTOR / ADVISOR</a:t>
            </a:r>
            <a:endParaRPr lang="en-US" sz="600" dirty="0"/>
          </a:p>
        </p:txBody>
      </p:sp>
      <p:sp>
        <p:nvSpPr>
          <p:cNvPr id="28" name="Text 21"/>
          <p:cNvSpPr/>
          <p:nvPr/>
        </p:nvSpPr>
        <p:spPr>
          <a:xfrm>
            <a:off x="1857375" y="4249806"/>
            <a:ext cx="671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Dr. Imad Belak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50" i="1" dirty="0">
                <a:solidFill>
                  <a:srgbClr val="424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Doctorat en management &amp; digitalisation. Spécialiste DET. Réseau MRE.</a:t>
            </a:r>
            <a:endParaRPr lang="en-US" sz="8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50594"/>
            <a:ext cx="288987" cy="17859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3362" y="4787205"/>
            <a:ext cx="144482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E9E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TARIKA • DiNext'26 • Oujda, Maroc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2026-05-23T00:50:50Z</dcterms:created>
  <dcterms:modified xsi:type="dcterms:W3CDTF">2026-05-23T00:50:50Z</dcterms:modified>
</cp:coreProperties>
</file>